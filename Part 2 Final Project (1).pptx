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2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731520"/>
            <a:ext cx="1828800" cy="1828800"/>
          </a:xfrm>
          <a:prstGeom prst="ellipse">
            <a:avLst/>
          </a:prstGeom>
          <a:solidFill>
            <a:srgbClr val="30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1920240"/>
            <a:ext cx="1371600" cy="1371600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38160" y="2743200"/>
            <a:ext cx="1005840" cy="1005840"/>
          </a:xfrm>
          <a:prstGeom prst="ellipse">
            <a:avLst/>
          </a:prstGeom>
          <a:solidFill>
            <a:srgbClr val="E6A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7132320" cy="41148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500" b="1">
                <a:solidFill>
                  <a:srgbClr val="A8CFE5"/>
                </a:solidFill>
                <a:latin typeface="Aptos"/>
              </a:defRPr>
            </a:pPr>
            <a:r>
              <a:rPr>
                <a:solidFill/>
              </a:rPr>
              <a:t>CHADATECH  |  SOFTWARE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91640"/>
            <a:ext cx="7315200" cy="137160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rPr>
                <a:solidFill/>
              </a:rPr>
              <a:t>Choosing the Right</a:t>
            </a:r>
            <a:br/>
            <a:r>
              <a:rPr>
                <a:solidFill/>
              </a:rPr>
              <a:t>Development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6858000" cy="68580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2000" b="0">
                <a:solidFill>
                  <a:srgbClr val="E1EAF3"/>
                </a:solidFill>
                <a:latin typeface="Aptos"/>
              </a:defRPr>
            </a:pPr>
            <a:r>
              <a:rPr>
                <a:solidFill/>
              </a:rPr>
              <a:t>A leadership overview of Scrum, Agile, and 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57800"/>
            <a:ext cx="6858000" cy="41148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rPr>
                <a:solidFill/>
              </a:rPr>
              <a:t>Prepared by: Muhupua Freeman  •  CS 250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15000"/>
            <a:ext cx="685800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300" b="0">
                <a:solidFill>
                  <a:srgbClr val="BECDDC"/>
                </a:solidFill>
                <a:latin typeface="Aptos"/>
              </a:defRPr>
            </a:pPr>
            <a:r>
              <a:rPr>
                <a:solidFill/>
              </a:rPr>
              <a:t>SNHU Travel case study</a:t>
            </a:r>
          </a:p>
        </p:txBody>
      </p:sp>
      <p:sp>
        <p:nvSpPr>
          <p:cNvPr id="10" name="Oval 9"/>
          <p:cNvSpPr/>
          <p:nvPr/>
        </p:nvSpPr>
        <p:spPr>
          <a:xfrm>
            <a:off x="10652760" y="5029200"/>
            <a:ext cx="378561" cy="546811"/>
          </a:xfrm>
          <a:prstGeom prst="ellipse">
            <a:avLst/>
          </a:prstGeom>
          <a:solidFill>
            <a:srgbClr val="C6EF9D"/>
          </a:solidFill>
          <a:ln>
            <a:solidFill>
              <a:srgbClr val="C6E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579150" y="5260543"/>
            <a:ext cx="136702" cy="73609"/>
          </a:xfrm>
          <a:prstGeom prst="ellipse">
            <a:avLst/>
          </a:prstGeom>
          <a:solidFill>
            <a:srgbClr val="C6EF9D"/>
          </a:solidFill>
          <a:ln>
            <a:solidFill>
              <a:srgbClr val="C6E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68228" y="5260543"/>
            <a:ext cx="136702" cy="73609"/>
          </a:xfrm>
          <a:prstGeom prst="ellipse">
            <a:avLst/>
          </a:prstGeom>
          <a:solidFill>
            <a:srgbClr val="C6EF9D"/>
          </a:solidFill>
          <a:ln>
            <a:solidFill>
              <a:srgbClr val="C6E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715853" y="5481370"/>
            <a:ext cx="115671" cy="105155"/>
          </a:xfrm>
          <a:prstGeom prst="ellipse">
            <a:avLst/>
          </a:prstGeom>
          <a:solidFill>
            <a:srgbClr val="C6EF9D"/>
          </a:solidFill>
          <a:ln>
            <a:solidFill>
              <a:srgbClr val="C6E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94618" y="5481370"/>
            <a:ext cx="115671" cy="105155"/>
          </a:xfrm>
          <a:prstGeom prst="ellipse">
            <a:avLst/>
          </a:prstGeom>
          <a:solidFill>
            <a:srgbClr val="C6EF9D"/>
          </a:solidFill>
          <a:ln>
            <a:solidFill>
              <a:srgbClr val="C6E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63173" y="5207965"/>
            <a:ext cx="36804" cy="47320"/>
          </a:xfrm>
          <a:prstGeom prst="ellipse">
            <a:avLst/>
          </a:prstGeom>
          <a:solidFill>
            <a:srgbClr val="22422F"/>
          </a:solidFill>
          <a:ln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89361" y="5207965"/>
            <a:ext cx="36804" cy="47320"/>
          </a:xfrm>
          <a:prstGeom prst="ellipse">
            <a:avLst/>
          </a:prstGeom>
          <a:solidFill>
            <a:srgbClr val="22422F"/>
          </a:solidFill>
          <a:ln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012680" y="5715000"/>
            <a:ext cx="213969" cy="309067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971074" y="5845759"/>
            <a:ext cx="77266" cy="41605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190988" y="5845759"/>
            <a:ext cx="77266" cy="41605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48341" y="5970574"/>
            <a:ext cx="65379" cy="59436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149382" y="5970574"/>
            <a:ext cx="65379" cy="59436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075087" y="5816041"/>
            <a:ext cx="20802" cy="26746"/>
          </a:xfrm>
          <a:prstGeom prst="ellipse">
            <a:avLst/>
          </a:prstGeom>
          <a:solidFill>
            <a:srgbClr val="22422F"/>
          </a:solidFill>
          <a:ln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146411" y="5816041"/>
            <a:ext cx="20802" cy="26746"/>
          </a:xfrm>
          <a:prstGeom prst="ellipse">
            <a:avLst/>
          </a:prstGeom>
          <a:solidFill>
            <a:srgbClr val="22422F"/>
          </a:solidFill>
          <a:ln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19456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>
                <a:solidFill>
                  <a:srgbClr val="FFFFFA"/>
                </a:solidFill>
              </a:rPr>
              <a:t>Why the Development Method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9552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6F2"/>
                </a:solidFill>
                <a:latin typeface="Aptos"/>
              </a:defRPr>
            </a:pPr>
            <a:r>
              <a:rPr>
                <a:solidFill>
                  <a:srgbClr val="E9F6E2"/>
                </a:solidFill>
              </a:rPr>
              <a:t>The method shapes how teams plan, respond to change, and deliver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A77"/>
                </a:solidFill>
              </a:defRPr>
            </a:pPr>
            <a:r>
              <a:rPr>
                <a:solidFill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100584" cy="4434840"/>
          </a:xfrm>
          <a:prstGeom prst="rect">
            <a:avLst/>
          </a:prstGeom>
          <a:solidFill>
            <a:srgbClr val="30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673351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B4A"/>
                </a:solidFill>
                <a:latin typeface="Aptos Display"/>
              </a:defRPr>
            </a:pPr>
            <a:r>
              <a:rPr>
                <a:solidFill/>
              </a:rPr>
              <a:t>What ChadaTech needs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03704"/>
            <a:ext cx="484632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Deliver useful features that meet customer needs.</a:t>
            </a:r>
          </a:p>
          <a:p>
            <a:pPr>
              <a:spcAft>
                <a:spcPts val="10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Make priorities visible so the team works on the most valuable items first.</a:t>
            </a:r>
          </a:p>
          <a:p>
            <a:pPr>
              <a:spcAft>
                <a:spcPts val="10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Respond when stakeholders change direction or provide new feedback.</a:t>
            </a:r>
          </a:p>
          <a:p>
            <a:pPr>
              <a:spcAft>
                <a:spcPts val="10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Keep quality visible through testing, review, and regular communication.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100584" cy="443484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673351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B4A"/>
                </a:solidFill>
                <a:latin typeface="Aptos Display"/>
              </a:defRPr>
            </a:pPr>
            <a:r>
              <a:rPr>
                <a:solidFill/>
              </a:rPr>
              <a:t>The two approaches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03704"/>
            <a:ext cx="484632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Waterfall: work moves through planned phases in sequence; changes can be costly later.</a:t>
            </a:r>
          </a:p>
          <a:p>
            <a:pPr>
              <a:spcAft>
                <a:spcPts val="10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Agile: work is delivered in smaller increments, with frequent feedback and adjustment.</a:t>
            </a:r>
          </a:p>
          <a:p>
            <a:pPr>
              <a:spcAft>
                <a:spcPts val="10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Neither approach is automatically best for every project—the requirements and risks matter.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126480"/>
            <a:ext cx="10698480" cy="22860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400" b="1">
                <a:solidFill>
                  <a:srgbClr val="1B2B4A"/>
                </a:solidFill>
                <a:latin typeface="Aptos"/>
              </a:defRPr>
            </a:pPr>
            <a:r>
              <a:rPr>
                <a:solidFill/>
              </a:rPr>
              <a:t>Key idea: choose a process that fits the work, not just the organization’s habits.</a:t>
            </a:r>
          </a:p>
        </p:txBody>
      </p:sp>
      <p:sp>
        <p:nvSpPr>
          <p:cNvPr id="15" name="Oval 14"/>
          <p:cNvSpPr/>
          <p:nvPr/>
        </p:nvSpPr>
        <p:spPr>
          <a:xfrm>
            <a:off x="11109960" y="5897880"/>
            <a:ext cx="181051" cy="261518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074755" y="6008522"/>
            <a:ext cx="65379" cy="35204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260836" y="6008522"/>
            <a:ext cx="65379" cy="35204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40135" y="6114135"/>
            <a:ext cx="55321" cy="50292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225631" y="6114135"/>
            <a:ext cx="55321" cy="50292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162766" y="5983376"/>
            <a:ext cx="17602" cy="22631"/>
          </a:xfrm>
          <a:prstGeom prst="ellipse">
            <a:avLst/>
          </a:prstGeom>
          <a:solidFill>
            <a:srgbClr val="22422F"/>
          </a:solidFill>
          <a:ln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223117" y="5983376"/>
            <a:ext cx="17602" cy="22631"/>
          </a:xfrm>
          <a:prstGeom prst="ellipse">
            <a:avLst/>
          </a:prstGeom>
          <a:solidFill>
            <a:srgbClr val="22422F"/>
          </a:solidFill>
          <a:ln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02920" y="6199632"/>
            <a:ext cx="109728" cy="109728"/>
          </a:xfrm>
          <a:prstGeom prst="ellipse">
            <a:avLst/>
          </a:prstGeom>
          <a:solidFill>
            <a:srgbClr val="C6EF9D"/>
          </a:solidFill>
          <a:ln>
            <a:solidFill>
              <a:srgbClr val="C6E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19456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>
                <a:solidFill>
                  <a:srgbClr val="FFFFFA"/>
                </a:solidFill>
              </a:rPr>
              <a:t>Scrum Roles and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9552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6F2"/>
                </a:solidFill>
                <a:latin typeface="Aptos"/>
              </a:defRPr>
            </a:pPr>
            <a:r>
              <a:rPr>
                <a:solidFill>
                  <a:srgbClr val="E9F6E2"/>
                </a:solidFill>
              </a:rPr>
              <a:t>Scrum makes accountability clear while the team works toward one shared goal.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A77"/>
                </a:solidFill>
              </a:defRPr>
            </a:pPr>
            <a:r>
              <a:rPr>
                <a:solidFill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00584" cy="4526280"/>
          </a:xfrm>
          <a:prstGeom prst="rect">
            <a:avLst/>
          </a:prstGeom>
          <a:solidFill>
            <a:srgbClr val="30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B4A"/>
                </a:solidFill>
                <a:latin typeface="Aptos Display"/>
              </a:defRPr>
            </a:pPr>
            <a:r>
              <a:rPr>
                <a:solidFill/>
              </a:rPr>
              <a:t>Product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12264"/>
            <a:ext cx="3063239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Represents user and business needs.</a:t>
            </a:r>
          </a:p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Orders the Product Backlog by value and priority.</a:t>
            </a:r>
          </a:p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Clarifies acceptance criteria and helps decide what should be built next.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417320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5968" y="1417320"/>
            <a:ext cx="100584" cy="452628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B4A"/>
                </a:solidFill>
                <a:latin typeface="Aptos Display"/>
              </a:defRPr>
            </a:pPr>
            <a:r>
              <a:rPr>
                <a:solidFill/>
              </a:rPr>
              <a:t>Scrum Master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12264"/>
            <a:ext cx="3063239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Helps the team understand and use Scrum.</a:t>
            </a:r>
          </a:p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Supports effective Scrum events and removes or helps address impediments.</a:t>
            </a:r>
          </a:p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Encourages focus, transparency, and continuous improvement.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417320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91856" y="1417320"/>
            <a:ext cx="100584" cy="4526280"/>
          </a:xfrm>
          <a:prstGeom prst="rect">
            <a:avLst/>
          </a:prstGeom>
          <a:solidFill>
            <a:srgbClr val="E6A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B4A"/>
                </a:solidFill>
                <a:latin typeface="Aptos Display"/>
              </a:defRPr>
            </a:pPr>
            <a:r>
              <a:rPr>
                <a:solidFill/>
              </a:rPr>
              <a:t>Developers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112264"/>
            <a:ext cx="3063239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Plan how to complete selected work.</a:t>
            </a:r>
          </a:p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Build, test, and integrate a usable product increment.</a:t>
            </a:r>
          </a:p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Collaborate to meet the Sprint Goal and quality expectations.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44768"/>
            <a:ext cx="10607040" cy="22860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0">
                <a:solidFill>
                  <a:srgbClr val="5F6A77"/>
                </a:solidFill>
                <a:latin typeface="Aptos"/>
              </a:defRPr>
            </a:pPr>
            <a:r>
              <a:rPr>
                <a:solidFill/>
              </a:rPr>
              <a:t>In Scrum, the team shares responsibility for delivering a valuable, usable result. (Schwaber &amp; Sutherland, 2020)</a:t>
            </a:r>
          </a:p>
        </p:txBody>
      </p:sp>
      <p:sp>
        <p:nvSpPr>
          <p:cNvPr id="19" name="Oval 18"/>
          <p:cNvSpPr/>
          <p:nvPr/>
        </p:nvSpPr>
        <p:spPr>
          <a:xfrm>
            <a:off x="11109960" y="5897880"/>
            <a:ext cx="181051" cy="261518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074755" y="6008522"/>
            <a:ext cx="65379" cy="35204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260836" y="6008522"/>
            <a:ext cx="65379" cy="35204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140135" y="6114135"/>
            <a:ext cx="55321" cy="50292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225631" y="6114135"/>
            <a:ext cx="55321" cy="50292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162766" y="5983376"/>
            <a:ext cx="17602" cy="22631"/>
          </a:xfrm>
          <a:prstGeom prst="ellipse">
            <a:avLst/>
          </a:prstGeom>
          <a:solidFill>
            <a:srgbClr val="22422F"/>
          </a:solidFill>
          <a:ln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223117" y="5983376"/>
            <a:ext cx="17602" cy="22631"/>
          </a:xfrm>
          <a:prstGeom prst="ellipse">
            <a:avLst/>
          </a:prstGeom>
          <a:solidFill>
            <a:srgbClr val="22422F"/>
          </a:solidFill>
          <a:ln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02920" y="6199632"/>
            <a:ext cx="109728" cy="109728"/>
          </a:xfrm>
          <a:prstGeom prst="ellipse">
            <a:avLst/>
          </a:prstGeom>
          <a:solidFill>
            <a:srgbClr val="C6EF9D"/>
          </a:solidFill>
          <a:ln>
            <a:solidFill>
              <a:srgbClr val="C6E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19456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>
                <a:solidFill>
                  <a:srgbClr val="FFFFFA"/>
                </a:solidFill>
              </a:rPr>
              <a:t>How the Agile SDLC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9552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6F2"/>
                </a:solidFill>
                <a:latin typeface="Aptos"/>
              </a:defRPr>
            </a:pPr>
            <a:r>
              <a:rPr>
                <a:solidFill>
                  <a:srgbClr val="E9F6E2"/>
                </a:solidFill>
              </a:rPr>
              <a:t>Agile is iterative: the team repeats a cycle and improves the product over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A77"/>
                </a:solidFill>
              </a:defRPr>
            </a:pPr>
            <a:r>
              <a:rPr>
                <a:solidFill/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1307592" y="1600200"/>
            <a:ext cx="658368" cy="658368"/>
          </a:xfrm>
          <a:prstGeom prst="ellipse">
            <a:avLst/>
          </a:prstGeom>
          <a:solidFill>
            <a:srgbClr val="30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rPr>
                <a:solidFill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68880"/>
            <a:ext cx="2176272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2468880"/>
            <a:ext cx="100584" cy="2514600"/>
          </a:xfrm>
          <a:prstGeom prst="rect">
            <a:avLst/>
          </a:prstGeom>
          <a:solidFill>
            <a:srgbClr val="30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2633472"/>
            <a:ext cx="17190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B4A"/>
                </a:solidFill>
                <a:latin typeface="Aptos Display"/>
              </a:defRPr>
            </a:pPr>
            <a:r>
              <a:rPr>
                <a:solidFill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63824"/>
            <a:ext cx="1673351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Select high-priority user stories and agree on a Sprint Goal.</a:t>
            </a:r>
          </a:p>
        </p:txBody>
      </p:sp>
      <p:sp>
        <p:nvSpPr>
          <p:cNvPr id="11" name="Chevron 10"/>
          <p:cNvSpPr/>
          <p:nvPr/>
        </p:nvSpPr>
        <p:spPr>
          <a:xfrm>
            <a:off x="2761488" y="1828800"/>
            <a:ext cx="274320" cy="274320"/>
          </a:xfrm>
          <a:prstGeom prst="chevron">
            <a:avLst/>
          </a:prstGeom>
          <a:solidFill>
            <a:srgbClr val="AAB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85032" y="1600200"/>
            <a:ext cx="658368" cy="65836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rPr>
                <a:solidFill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2468880"/>
            <a:ext cx="2176272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71800" y="2468880"/>
            <a:ext cx="100584" cy="251460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27832" y="2633472"/>
            <a:ext cx="17190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B4A"/>
                </a:solidFill>
                <a:latin typeface="Aptos Display"/>
              </a:defRPr>
            </a:pPr>
            <a:r>
              <a:rPr>
                <a:solidFill/>
              </a:rPr>
              <a:t>Design &amp;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163824"/>
            <a:ext cx="1673351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Create a small, workable part of the solution.</a:t>
            </a:r>
          </a:p>
        </p:txBody>
      </p:sp>
      <p:sp>
        <p:nvSpPr>
          <p:cNvPr id="17" name="Chevron 16"/>
          <p:cNvSpPr/>
          <p:nvPr/>
        </p:nvSpPr>
        <p:spPr>
          <a:xfrm>
            <a:off x="5138928" y="1828800"/>
            <a:ext cx="274320" cy="274320"/>
          </a:xfrm>
          <a:prstGeom prst="chevron">
            <a:avLst/>
          </a:prstGeom>
          <a:solidFill>
            <a:srgbClr val="AAB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062472" y="1600200"/>
            <a:ext cx="658368" cy="658368"/>
          </a:xfrm>
          <a:prstGeom prst="ellipse">
            <a:avLst/>
          </a:prstGeom>
          <a:solidFill>
            <a:srgbClr val="E6A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rPr>
                <a:solidFill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9240" y="2468880"/>
            <a:ext cx="2176272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49240" y="2468880"/>
            <a:ext cx="100584" cy="2514600"/>
          </a:xfrm>
          <a:prstGeom prst="rect">
            <a:avLst/>
          </a:prstGeom>
          <a:solidFill>
            <a:srgbClr val="E6A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05272" y="2633472"/>
            <a:ext cx="17190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B4A"/>
                </a:solidFill>
                <a:latin typeface="Aptos Display"/>
              </a:defRPr>
            </a:pPr>
            <a:r>
              <a:rPr>
                <a:solidFill/>
              </a:rPr>
              <a:t>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3163824"/>
            <a:ext cx="1673351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Check the feature against acceptance criteria and fix defects.</a:t>
            </a:r>
          </a:p>
        </p:txBody>
      </p:sp>
      <p:sp>
        <p:nvSpPr>
          <p:cNvPr id="23" name="Chevron 22"/>
          <p:cNvSpPr/>
          <p:nvPr/>
        </p:nvSpPr>
        <p:spPr>
          <a:xfrm>
            <a:off x="7516368" y="1828800"/>
            <a:ext cx="274320" cy="274320"/>
          </a:xfrm>
          <a:prstGeom prst="chevron">
            <a:avLst/>
          </a:prstGeom>
          <a:solidFill>
            <a:srgbClr val="AAB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39912" y="1600200"/>
            <a:ext cx="658368" cy="658368"/>
          </a:xfrm>
          <a:prstGeom prst="ellipse">
            <a:avLst/>
          </a:prstGeom>
          <a:solidFill>
            <a:srgbClr val="30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rPr>
                <a:solidFill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80" y="2468880"/>
            <a:ext cx="2176272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26680" y="2468880"/>
            <a:ext cx="100584" cy="2514600"/>
          </a:xfrm>
          <a:prstGeom prst="rect">
            <a:avLst/>
          </a:prstGeom>
          <a:solidFill>
            <a:srgbClr val="30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82712" y="2633472"/>
            <a:ext cx="17190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B4A"/>
                </a:solidFill>
                <a:latin typeface="Aptos Display"/>
              </a:defRPr>
            </a:pPr>
            <a:r>
              <a:rPr>
                <a:solidFill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163824"/>
            <a:ext cx="1673351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Show the increment to stakeholders and gather feedback.</a:t>
            </a:r>
          </a:p>
        </p:txBody>
      </p:sp>
      <p:sp>
        <p:nvSpPr>
          <p:cNvPr id="29" name="Chevron 28"/>
          <p:cNvSpPr/>
          <p:nvPr/>
        </p:nvSpPr>
        <p:spPr>
          <a:xfrm>
            <a:off x="9893808" y="1828800"/>
            <a:ext cx="274320" cy="274320"/>
          </a:xfrm>
          <a:prstGeom prst="chevron">
            <a:avLst/>
          </a:prstGeom>
          <a:solidFill>
            <a:srgbClr val="AAB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817352" y="1600200"/>
            <a:ext cx="658368" cy="658368"/>
          </a:xfrm>
          <a:prstGeom prst="ellipse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rPr>
                <a:solidFill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20" y="2468880"/>
            <a:ext cx="2176272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104120" y="2468880"/>
            <a:ext cx="100584" cy="251460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60152" y="2633472"/>
            <a:ext cx="17190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B4A"/>
                </a:solidFill>
                <a:latin typeface="Aptos Display"/>
              </a:defRPr>
            </a:pPr>
            <a:r>
              <a:rPr>
                <a:solidFill/>
              </a:rPr>
              <a:t>Reflect &amp; Adapt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3163824"/>
            <a:ext cx="1673351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Discuss what went well and improve the next Sprint.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394960"/>
            <a:ext cx="10607040" cy="68580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700" b="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Scrum structures this work into timeboxed Sprints. Planning, Daily Scrums, Sprint Reviews, and Sprint Retrospectives help the team inspect progress and adapt.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172200"/>
            <a:ext cx="10515600" cy="22860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0">
                <a:solidFill>
                  <a:srgbClr val="5F6A77"/>
                </a:solidFill>
                <a:latin typeface="Aptos"/>
              </a:defRPr>
            </a:pPr>
            <a:r>
              <a:rPr>
                <a:solidFill/>
              </a:rPr>
              <a:t>Source: Schwaber &amp; Sutherland (2020).</a:t>
            </a:r>
          </a:p>
        </p:txBody>
      </p:sp>
      <p:sp>
        <p:nvSpPr>
          <p:cNvPr id="37" name="Oval 36"/>
          <p:cNvSpPr/>
          <p:nvPr/>
        </p:nvSpPr>
        <p:spPr>
          <a:xfrm>
            <a:off x="11109960" y="5897880"/>
            <a:ext cx="181051" cy="261518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074755" y="6008522"/>
            <a:ext cx="65379" cy="35204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260836" y="6008522"/>
            <a:ext cx="65379" cy="35204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140135" y="6114135"/>
            <a:ext cx="55321" cy="50292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225631" y="6114135"/>
            <a:ext cx="55321" cy="50292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162766" y="5983376"/>
            <a:ext cx="17602" cy="22631"/>
          </a:xfrm>
          <a:prstGeom prst="ellipse">
            <a:avLst/>
          </a:prstGeom>
          <a:solidFill>
            <a:srgbClr val="22422F"/>
          </a:solidFill>
          <a:ln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223117" y="5983376"/>
            <a:ext cx="17602" cy="22631"/>
          </a:xfrm>
          <a:prstGeom prst="ellipse">
            <a:avLst/>
          </a:prstGeom>
          <a:solidFill>
            <a:srgbClr val="22422F"/>
          </a:solidFill>
          <a:ln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02920" y="6199632"/>
            <a:ext cx="109728" cy="109728"/>
          </a:xfrm>
          <a:prstGeom prst="ellipse">
            <a:avLst/>
          </a:prstGeom>
          <a:solidFill>
            <a:srgbClr val="C6EF9D"/>
          </a:solidFill>
          <a:ln>
            <a:solidFill>
              <a:srgbClr val="C6E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19456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>
                <a:solidFill>
                  <a:srgbClr val="FFFFFA"/>
                </a:solidFill>
              </a:rPr>
              <a:t>Waterfall vs. Agile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9552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6F2"/>
                </a:solidFill>
                <a:latin typeface="Aptos"/>
              </a:defRPr>
            </a:pPr>
            <a:r>
              <a:rPr>
                <a:solidFill>
                  <a:srgbClr val="E9F6E2"/>
                </a:solidFill>
              </a:rPr>
              <a:t>Both aim to deliver a solution, but organize the work differently.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A77"/>
                </a:solidFill>
              </a:defRPr>
            </a:pPr>
            <a:r>
              <a:rPr>
                <a:solidFill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57800" cy="502920"/>
          </a:xfrm>
          <a:prstGeom prst="roundRect">
            <a:avLst/>
          </a:prstGeom>
          <a:solidFill>
            <a:srgbClr val="30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/>
              </a:rPr>
              <a:t>WATERFALL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257800" cy="502920"/>
          </a:xfrm>
          <a:prstGeom prst="round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solidFill/>
              </a:rPr>
              <a:t>AGILE / SCRUM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93976"/>
            <a:ext cx="1143000" cy="41148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1">
                <a:solidFill>
                  <a:srgbClr val="1B2B4A"/>
                </a:solidFill>
                <a:latin typeface="Aptos"/>
              </a:defRPr>
            </a:pPr>
            <a:r>
              <a:rPr>
                <a:solidFill/>
              </a:rPr>
              <a:t>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66543"/>
            <a:ext cx="3977639" cy="5029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400" b="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Most scope and phases planned up front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066543"/>
            <a:ext cx="4937760" cy="5029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400" b="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Plan and reprioritize in short cycles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15184"/>
            <a:ext cx="10561320" cy="10972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807208"/>
            <a:ext cx="1143000" cy="41148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1">
                <a:solidFill>
                  <a:srgbClr val="1B2B4A"/>
                </a:solidFill>
                <a:latin typeface="Aptos"/>
              </a:defRPr>
            </a:pPr>
            <a:r>
              <a:rPr>
                <a:solidFill/>
              </a:rPr>
              <a:t>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779776"/>
            <a:ext cx="3977639" cy="5029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400" b="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Often one major delivery near the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779776"/>
            <a:ext cx="4937760" cy="5029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400" b="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Frequent, smaller increments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28416"/>
            <a:ext cx="10561320" cy="10972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520440"/>
            <a:ext cx="1143000" cy="41148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1">
                <a:solidFill>
                  <a:srgbClr val="1B2B4A"/>
                </a:solidFill>
                <a:latin typeface="Aptos"/>
              </a:defRPr>
            </a:pPr>
            <a:r>
              <a:rPr>
                <a:solidFill/>
              </a:rPr>
              <a:t>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493008"/>
            <a:ext cx="3977639" cy="5029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400" b="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Often concentrated at milestones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493008"/>
            <a:ext cx="4937760" cy="5029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400" b="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Regular feedback during development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41648"/>
            <a:ext cx="10561320" cy="10972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233672"/>
            <a:ext cx="1143000" cy="41148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1">
                <a:solidFill>
                  <a:srgbClr val="1B2B4A"/>
                </a:solidFill>
                <a:latin typeface="Aptos"/>
              </a:defRPr>
            </a:pPr>
            <a:r>
              <a:rPr>
                <a:solidFill/>
              </a:rPr>
              <a:t>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206240"/>
            <a:ext cx="3977639" cy="5029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400" b="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Late changes may cause rework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206240"/>
            <a:ext cx="4937760" cy="5029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400" b="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Changes can be considered in the backlog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754880"/>
            <a:ext cx="10561320" cy="10972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946904"/>
            <a:ext cx="1143000" cy="41148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200" b="1">
                <a:solidFill>
                  <a:srgbClr val="1B2B4A"/>
                </a:solidFill>
                <a:latin typeface="Aptos"/>
              </a:defRPr>
            </a:pPr>
            <a:r>
              <a:rPr>
                <a:solidFill/>
              </a:rPr>
              <a:t>Best 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919472"/>
            <a:ext cx="3977639" cy="5029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400" b="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Stable, well-defined 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919472"/>
            <a:ext cx="4937760" cy="5029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400" b="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Evolving needs and frequent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500" b="1">
                <a:solidFill>
                  <a:srgbClr val="1B2B4A"/>
                </a:solidFill>
                <a:latin typeface="Aptos"/>
              </a:defRPr>
            </a:pPr>
            <a:r>
              <a:rPr>
                <a:solidFill/>
              </a:rPr>
              <a:t>Agile does not mean “no planning”; it means planning and learning continue throughout the project.</a:t>
            </a:r>
          </a:p>
        </p:txBody>
      </p:sp>
      <p:sp>
        <p:nvSpPr>
          <p:cNvPr id="28" name="Oval 27"/>
          <p:cNvSpPr/>
          <p:nvPr/>
        </p:nvSpPr>
        <p:spPr>
          <a:xfrm>
            <a:off x="11109960" y="5897880"/>
            <a:ext cx="181051" cy="261518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074755" y="6008522"/>
            <a:ext cx="65379" cy="35204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260836" y="6008522"/>
            <a:ext cx="65379" cy="35204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140135" y="6114135"/>
            <a:ext cx="55321" cy="50292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225631" y="6114135"/>
            <a:ext cx="55321" cy="50292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162766" y="5983376"/>
            <a:ext cx="17602" cy="22631"/>
          </a:xfrm>
          <a:prstGeom prst="ellipse">
            <a:avLst/>
          </a:prstGeom>
          <a:solidFill>
            <a:srgbClr val="22422F"/>
          </a:solidFill>
          <a:ln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1223117" y="5983376"/>
            <a:ext cx="17602" cy="22631"/>
          </a:xfrm>
          <a:prstGeom prst="ellipse">
            <a:avLst/>
          </a:prstGeom>
          <a:solidFill>
            <a:srgbClr val="22422F"/>
          </a:solidFill>
          <a:ln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02920" y="6199632"/>
            <a:ext cx="109728" cy="109728"/>
          </a:xfrm>
          <a:prstGeom prst="ellipse">
            <a:avLst/>
          </a:prstGeom>
          <a:solidFill>
            <a:srgbClr val="C6EF9D"/>
          </a:solidFill>
          <a:ln>
            <a:solidFill>
              <a:srgbClr val="C6E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19456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>
                <a:solidFill>
                  <a:srgbClr val="FFFFFA"/>
                </a:solidFill>
              </a:rPr>
              <a:t>Example: A Change in SNHU Travel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9552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6F2"/>
                </a:solidFill>
                <a:latin typeface="Aptos"/>
              </a:defRPr>
            </a:pPr>
            <a:r>
              <a:rPr>
                <a:solidFill>
                  <a:srgbClr val="E9F6E2"/>
                </a:solidFill>
              </a:rPr>
              <a:t>A practical example of how the two approaches handle a changing request.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A77"/>
                </a:solidFill>
              </a:defRPr>
            </a:pPr>
            <a:r>
              <a:rPr>
                <a:solidFill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3492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100584" cy="4343400"/>
          </a:xfrm>
          <a:prstGeom prst="rect">
            <a:avLst/>
          </a:prstGeom>
          <a:solidFill>
            <a:srgbClr val="30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673351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B4A"/>
                </a:solidFill>
                <a:latin typeface="Aptos Display"/>
              </a:defRPr>
            </a:pPr>
            <a:r>
              <a:rPr>
                <a:solidFill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03704"/>
            <a:ext cx="484632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The team is building a vacation-booking experience.</a:t>
            </a:r>
          </a:p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The Product Owner asks the team to shift the slideshow toward detox and wellness vacations.</a:t>
            </a:r>
          </a:p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The team needs to update images and descriptions while keeping the feature usable.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492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100584" cy="434340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673351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B4A"/>
                </a:solidFill>
                <a:latin typeface="Aptos Display"/>
              </a:defRPr>
            </a:pPr>
            <a:r>
              <a:rPr>
                <a:solidFill/>
              </a:rPr>
              <a:t>How each method responds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03704"/>
            <a:ext cx="484632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Waterfall: if requirements and design were already approved, the change may require formal change review and rework in completed phases.</a:t>
            </a:r>
          </a:p>
          <a:p>
            <a:pPr>
              <a:spcAft>
                <a:spcPts val="10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Agile/Scrum: discuss the new need, reprioritize the backlog, and plan the appropriate work for a Sprint.</a:t>
            </a:r>
          </a:p>
          <a:p>
            <a:pPr>
              <a:spcAft>
                <a:spcPts val="10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The team can review the updated increment and gather feedback before making further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35040"/>
            <a:ext cx="10424160" cy="34747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400" b="1">
                <a:solidFill>
                  <a:srgbClr val="1B2B4A"/>
                </a:solidFill>
                <a:latin typeface="Aptos"/>
              </a:defRPr>
            </a:pPr>
            <a:r>
              <a:rPr>
                <a:solidFill/>
              </a:rPr>
              <a:t>Lesson: Agile can make changing priorities easier to manage, but the team still needs clear decisions and realistic scope.</a:t>
            </a:r>
          </a:p>
        </p:txBody>
      </p:sp>
      <p:sp>
        <p:nvSpPr>
          <p:cNvPr id="15" name="Oval 14"/>
          <p:cNvSpPr/>
          <p:nvPr/>
        </p:nvSpPr>
        <p:spPr>
          <a:xfrm>
            <a:off x="11109960" y="5897880"/>
            <a:ext cx="181051" cy="261518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074755" y="6008522"/>
            <a:ext cx="65379" cy="35204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260836" y="6008522"/>
            <a:ext cx="65379" cy="35204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40135" y="6114135"/>
            <a:ext cx="55321" cy="50292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225631" y="6114135"/>
            <a:ext cx="55321" cy="50292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162766" y="5983376"/>
            <a:ext cx="17602" cy="22631"/>
          </a:xfrm>
          <a:prstGeom prst="ellipse">
            <a:avLst/>
          </a:prstGeom>
          <a:solidFill>
            <a:srgbClr val="22422F"/>
          </a:solidFill>
          <a:ln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223117" y="5983376"/>
            <a:ext cx="17602" cy="22631"/>
          </a:xfrm>
          <a:prstGeom prst="ellipse">
            <a:avLst/>
          </a:prstGeom>
          <a:solidFill>
            <a:srgbClr val="22422F"/>
          </a:solidFill>
          <a:ln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02920" y="6199632"/>
            <a:ext cx="109728" cy="109728"/>
          </a:xfrm>
          <a:prstGeom prst="ellipse">
            <a:avLst/>
          </a:prstGeom>
          <a:solidFill>
            <a:srgbClr val="C6EF9D"/>
          </a:solidFill>
          <a:ln>
            <a:solidFill>
              <a:srgbClr val="C6E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19456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>
                <a:solidFill>
                  <a:srgbClr val="FFFFFA"/>
                </a:solidFill>
              </a:rPr>
              <a:t>When Should ChadaTech Choose Each Method?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9552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6F2"/>
                </a:solidFill>
                <a:latin typeface="Aptos"/>
              </a:defRPr>
            </a:pPr>
            <a:r>
              <a:rPr>
                <a:solidFill>
                  <a:srgbClr val="E9F6E2"/>
                </a:solidFill>
              </a:rPr>
              <a:t>Match the development approach to the project’s uncertainty, constraints, and feedback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A77"/>
                </a:solidFill>
              </a:defRPr>
            </a:pPr>
            <a:r>
              <a:rPr>
                <a:solidFill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492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00584" cy="4297680"/>
          </a:xfrm>
          <a:prstGeom prst="rect">
            <a:avLst/>
          </a:prstGeom>
          <a:solidFill>
            <a:srgbClr val="30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62763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B4A"/>
                </a:solidFill>
                <a:latin typeface="Aptos Display"/>
              </a:defRPr>
            </a:pPr>
            <a:r>
              <a:rPr>
                <a:solidFill/>
              </a:rPr>
              <a:t>Consider Waterfall when…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57984"/>
            <a:ext cx="4846320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Requirements are clear and unlikely to change.</a:t>
            </a:r>
          </a:p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Approvals, dependencies, or compliance steps must occur in a fixed order.</a:t>
            </a:r>
          </a:p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The team needs extensive upfront documentation and a predictable sequence.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492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100584" cy="429768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62763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B4A"/>
                </a:solidFill>
                <a:latin typeface="Aptos Display"/>
              </a:defRPr>
            </a:pPr>
            <a:r>
              <a:rPr>
                <a:solidFill/>
              </a:rPr>
              <a:t>Consider Agile/Scrum when…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57984"/>
            <a:ext cx="4846320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Customer needs may evolve as people see the product.</a:t>
            </a:r>
          </a:p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The team can deliver useful pieces and get feedback regularly.</a:t>
            </a:r>
          </a:p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Frequent testing and reprioritization help reduce the risk of building the wrong thing.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10515600" cy="41148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500" b="1">
                <a:solidFill>
                  <a:srgbClr val="1B2B4A"/>
                </a:solidFill>
                <a:latin typeface="Aptos"/>
              </a:defRPr>
            </a:pPr>
            <a:r>
              <a:rPr>
                <a:solidFill/>
              </a:rPr>
              <a:t>Recommendation for SNHU Travel: Agile/Scrum is a strong fit because destination preferences, deals, and presentation priorities can change with feedback.</a:t>
            </a:r>
          </a:p>
        </p:txBody>
      </p:sp>
      <p:sp>
        <p:nvSpPr>
          <p:cNvPr id="15" name="Oval 14"/>
          <p:cNvSpPr/>
          <p:nvPr/>
        </p:nvSpPr>
        <p:spPr>
          <a:xfrm>
            <a:off x="11109960" y="5897880"/>
            <a:ext cx="181051" cy="261518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074755" y="6008522"/>
            <a:ext cx="65379" cy="35204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260836" y="6008522"/>
            <a:ext cx="65379" cy="35204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40135" y="6114135"/>
            <a:ext cx="55321" cy="50292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225631" y="6114135"/>
            <a:ext cx="55321" cy="50292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162766" y="5983376"/>
            <a:ext cx="17602" cy="22631"/>
          </a:xfrm>
          <a:prstGeom prst="ellipse">
            <a:avLst/>
          </a:prstGeom>
          <a:solidFill>
            <a:srgbClr val="22422F"/>
          </a:solidFill>
          <a:ln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223117" y="5983376"/>
            <a:ext cx="17602" cy="22631"/>
          </a:xfrm>
          <a:prstGeom prst="ellipse">
            <a:avLst/>
          </a:prstGeom>
          <a:solidFill>
            <a:srgbClr val="22422F"/>
          </a:solidFill>
          <a:ln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02920" y="6199632"/>
            <a:ext cx="109728" cy="109728"/>
          </a:xfrm>
          <a:prstGeom prst="ellipse">
            <a:avLst/>
          </a:prstGeom>
          <a:solidFill>
            <a:srgbClr val="C6EF9D"/>
          </a:solidFill>
          <a:ln>
            <a:solidFill>
              <a:srgbClr val="C6E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19456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>
                <a:solidFill>
                  <a:srgbClr val="FFFFFA"/>
                </a:solidFill>
              </a:rPr>
              <a:t>Recommendation and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9552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6F2"/>
                </a:solidFill>
                <a:latin typeface="Aptos"/>
              </a:defRPr>
            </a:pPr>
            <a:r>
              <a:rPr>
                <a:solidFill>
                  <a:srgbClr val="E9F6E2"/>
                </a:solidFill>
              </a:rPr>
              <a:t>Use a process that supports delivery, quality, and learning.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A77"/>
                </a:solidFill>
              </a:defRPr>
            </a:pPr>
            <a:r>
              <a:rPr>
                <a:solidFill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67665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100584" cy="443484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627632"/>
            <a:ext cx="6309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B4A"/>
                </a:solidFill>
                <a:latin typeface="Aptos Display"/>
              </a:defRPr>
            </a:pPr>
            <a:r>
              <a:rPr>
                <a:solidFill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57984"/>
            <a:ext cx="626364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Use Scrum for the SNHU Travel application pilot.</a:t>
            </a:r>
          </a:p>
          <a:p>
            <a:pPr>
              <a:spcAft>
                <a:spcPts val="10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Keep the Product Backlog ordered around user value and clear acceptance criteria.</a:t>
            </a:r>
          </a:p>
          <a:p>
            <a:pPr>
              <a:spcAft>
                <a:spcPts val="10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Use Sprint Reviews to collect stakeholder feedback and Retrospectives to improve teamwork.</a:t>
            </a:r>
          </a:p>
          <a:p>
            <a:pPr>
              <a:spcAft>
                <a:spcPts val="10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Track quality through testing, and avoid accepting more work than the team can realistically finish.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463040"/>
            <a:ext cx="3749039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26679" y="1463040"/>
            <a:ext cx="100584" cy="4434840"/>
          </a:xfrm>
          <a:prstGeom prst="rect">
            <a:avLst/>
          </a:prstGeom>
          <a:solidFill>
            <a:srgbClr val="30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82711" y="1627632"/>
            <a:ext cx="3291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B4A"/>
                </a:solidFill>
                <a:latin typeface="Aptos Display"/>
              </a:defRPr>
            </a:pPr>
            <a:r>
              <a:rPr>
                <a:solidFill/>
              </a:rPr>
              <a:t>Bottom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157984"/>
            <a:ext cx="324612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Waterfall offers structure for stable requirements.</a:t>
            </a:r>
          </a:p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Agile offers flexibility for changing needs.</a:t>
            </a:r>
          </a:p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Success depends on choosing intentionally and communicating clearly.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defRPr sz="1900" b="1">
                <a:solidFill>
                  <a:srgbClr val="1B2B4A"/>
                </a:solidFill>
                <a:latin typeface="Aptos"/>
              </a:defRPr>
            </a:pPr>
            <a:r>
              <a:rPr>
                <a:solidFill/>
              </a:rPr>
              <a:t>Questions?</a:t>
            </a:r>
          </a:p>
        </p:txBody>
      </p:sp>
      <p:sp>
        <p:nvSpPr>
          <p:cNvPr id="15" name="Oval 14"/>
          <p:cNvSpPr/>
          <p:nvPr/>
        </p:nvSpPr>
        <p:spPr>
          <a:xfrm>
            <a:off x="11109960" y="5897880"/>
            <a:ext cx="181051" cy="261518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074755" y="6008522"/>
            <a:ext cx="65379" cy="35204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260836" y="6008522"/>
            <a:ext cx="65379" cy="35204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40135" y="6114135"/>
            <a:ext cx="55321" cy="50292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225631" y="6114135"/>
            <a:ext cx="55321" cy="50292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162766" y="5983376"/>
            <a:ext cx="17602" cy="22631"/>
          </a:xfrm>
          <a:prstGeom prst="ellipse">
            <a:avLst/>
          </a:prstGeom>
          <a:solidFill>
            <a:srgbClr val="22422F"/>
          </a:solidFill>
          <a:ln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223117" y="5983376"/>
            <a:ext cx="17602" cy="22631"/>
          </a:xfrm>
          <a:prstGeom prst="ellipse">
            <a:avLst/>
          </a:prstGeom>
          <a:solidFill>
            <a:srgbClr val="22422F"/>
          </a:solidFill>
          <a:ln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02920" y="6199632"/>
            <a:ext cx="109728" cy="109728"/>
          </a:xfrm>
          <a:prstGeom prst="ellipse">
            <a:avLst/>
          </a:prstGeom>
          <a:solidFill>
            <a:srgbClr val="C6EF9D"/>
          </a:solidFill>
          <a:ln>
            <a:solidFill>
              <a:srgbClr val="C6E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19456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>
                <a:solidFill>
                  <a:srgbClr val="FFFFFA"/>
                </a:solidFill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9552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6F2"/>
                </a:solidFill>
                <a:latin typeface="Aptos"/>
              </a:defRPr>
            </a:pPr>
            <a:r>
              <a:rPr>
                <a:solidFill>
                  <a:srgbClr val="E9F6E2"/>
                </a:solidFill>
              </a:rPr>
              <a:t>APA-style references for concepts used in this 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A77"/>
                </a:solidFill>
              </a:defRPr>
            </a:pPr>
            <a:r>
              <a:rPr>
                <a:solidFill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442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0584" cy="2194560"/>
          </a:xfrm>
          <a:prstGeom prst="rect">
            <a:avLst/>
          </a:prstGeom>
          <a:solidFill>
            <a:srgbClr val="30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764792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B2B4A"/>
                </a:solidFill>
                <a:latin typeface="Aptos Display"/>
              </a:defRPr>
            </a:pPr>
            <a:r>
              <a:rPr>
                <a:solidFill/>
              </a:rPr>
              <a:t>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95144"/>
            <a:ext cx="1024128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Schwaber, K., &amp; Sutherland, J. (2020). The Scrum Guide: The definitive guide to Scrum: The rules of the game. https://scrumguides.org/scrum-guide.html</a:t>
            </a:r>
          </a:p>
          <a:p>
            <a:pPr>
              <a:spcAft>
                <a:spcPts val="10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rPr>
                <a:solidFill/>
              </a:rPr>
              <a:t>Royce, W. W. (1970). Managing the development of large software systems. Proceedings of IEEE WESCON, 1–9.</a:t>
            </a:r>
          </a:p>
        </p:txBody>
      </p:sp>
      <p:sp>
        <p:nvSpPr>
          <p:cNvPr id="12" name="Oval 11"/>
          <p:cNvSpPr/>
          <p:nvPr/>
        </p:nvSpPr>
        <p:spPr>
          <a:xfrm>
            <a:off x="11109960" y="5897880"/>
            <a:ext cx="181051" cy="261518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074755" y="6008522"/>
            <a:ext cx="65379" cy="35204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260836" y="6008522"/>
            <a:ext cx="65379" cy="35204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140135" y="6114135"/>
            <a:ext cx="55321" cy="50292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225631" y="6114135"/>
            <a:ext cx="55321" cy="50292"/>
          </a:xfrm>
          <a:prstGeom prst="ellipse">
            <a:avLst/>
          </a:prstGeom>
          <a:solidFill>
            <a:srgbClr val="AAE284"/>
          </a:solidFill>
          <a:ln>
            <a:solidFill>
              <a:srgbClr val="AAE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162766" y="5983376"/>
            <a:ext cx="17602" cy="22631"/>
          </a:xfrm>
          <a:prstGeom prst="ellipse">
            <a:avLst/>
          </a:prstGeom>
          <a:solidFill>
            <a:srgbClr val="22422F"/>
          </a:solidFill>
          <a:ln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223117" y="5983376"/>
            <a:ext cx="17602" cy="22631"/>
          </a:xfrm>
          <a:prstGeom prst="ellipse">
            <a:avLst/>
          </a:prstGeom>
          <a:solidFill>
            <a:srgbClr val="22422F"/>
          </a:solidFill>
          <a:ln>
            <a:solidFill>
              <a:srgbClr val="224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02920" y="6199632"/>
            <a:ext cx="109728" cy="109728"/>
          </a:xfrm>
          <a:prstGeom prst="ellipse">
            <a:avLst/>
          </a:prstGeom>
          <a:solidFill>
            <a:srgbClr val="C6EF9D"/>
          </a:solidFill>
          <a:ln>
            <a:solidFill>
              <a:srgbClr val="C6E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977639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C4F39"/>
                </a:solidFill>
                <a:latin typeface="Aptos"/>
              </a:defRPr>
            </a:pPr>
            <a:r>
              <a:t>OpenAI. (2026). ChatGPT (GPT-6) [Large language model]. https://chatgpt.com/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57761"/>
                </a:solidFill>
                <a:latin typeface="Aptos"/>
              </a:defRPr>
            </a:pPr>
            <a:r>
              <a:t>AI assistance was used to help format and develop this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989</Words>
  <Application>Microsoft Office PowerPoint</Application>
  <PresentationFormat>Widescreen</PresentationFormat>
  <Paragraphs>120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Freeman, Muhupua</cp:lastModifiedBy>
  <cp:revision>1</cp:revision>
  <dcterms:created xsi:type="dcterms:W3CDTF">2013-01-27T09:14:16Z</dcterms:created>
  <dcterms:modified xsi:type="dcterms:W3CDTF">2026-10-19T02:24:09Z</dcterms:modified>
  <cp:category/>
</cp:coreProperties>
</file>